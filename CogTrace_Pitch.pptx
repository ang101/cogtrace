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206240" cy="2368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decisions. See why.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5029200" y="1188720"/>
            <a:ext cx="3657600" cy="2560320"/>
          </a:xfrm>
          <a:prstGeom prst="rect">
            <a:avLst/>
          </a:prstGeom>
          <a:solidFill>
            <a:srgbClr val="085041">
              <a:alpha val="40000"/>
            </a:srgbClr>
          </a:solidFill>
          <a:ln w="6350">
            <a:solidFill>
              <a:srgbClr val="1D9E75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16636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CogTrace treats AI decisions as part of a structured work system, not a loose org chart of 'software engineer' and 'QA' agents.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organizes behavior from mission goals down to tool calls — and turns each decision into a rich W&amp;B Weave trace.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Most Sophisticated Harness  ·  Best Use of W&amp;B Weave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for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AI org charts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457200"/>
          </a:xfrm>
          <a:prstGeom prst="rect">
            <a:avLst/>
          </a:prstGeom>
          <a:solidFill>
            <a:srgbClr val="1C2A22"/>
          </a:solidFill>
          <a:ln w="635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188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34440" y="1645920"/>
            <a:ext cx="0" cy="201168"/>
          </a:xfrm>
          <a:prstGeom prst="line">
            <a:avLst/>
          </a:prstGeom>
          <a:noFill/>
          <a:ln w="10160">
            <a:solidFill>
              <a:srgbClr val="7A9E8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847088"/>
            <a:ext cx="1554480" cy="457200"/>
          </a:xfrm>
          <a:prstGeom prst="rect">
            <a:avLst/>
          </a:prstGeom>
          <a:solidFill>
            <a:srgbClr val="1C2A22"/>
          </a:solidFill>
          <a:ln w="6350">
            <a:solidFill>
              <a:srgbClr val="7A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47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304288"/>
            <a:ext cx="0" cy="201168"/>
          </a:xfrm>
          <a:prstGeom prst="line">
            <a:avLst/>
          </a:prstGeom>
          <a:noFill/>
          <a:ln w="10160">
            <a:solidFill>
              <a:srgbClr val="7A9E8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505456"/>
            <a:ext cx="1554480" cy="457200"/>
          </a:xfrm>
          <a:prstGeom prst="rect">
            <a:avLst/>
          </a:prstGeom>
          <a:solidFill>
            <a:srgbClr val="1C2A22"/>
          </a:solidFill>
          <a:ln w="6350">
            <a:solidFill>
              <a:srgbClr val="7A9E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505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2962656"/>
            <a:ext cx="0" cy="201168"/>
          </a:xfrm>
          <a:prstGeom prst="line">
            <a:avLst/>
          </a:prstGeom>
          <a:noFill/>
          <a:ln w="10160">
            <a:solidFill>
              <a:srgbClr val="7A9E8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3163824"/>
            <a:ext cx="1554480" cy="457200"/>
          </a:xfrm>
          <a:prstGeom prst="rect">
            <a:avLst/>
          </a:prstGeom>
          <a:solidFill>
            <a:srgbClr val="1C2A22"/>
          </a:solidFill>
          <a:ln w="6350">
            <a:solidFill>
              <a:srgbClr val="7A9E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638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their role.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why.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097280"/>
            <a:ext cx="6126480" cy="1005840"/>
          </a:xfrm>
          <a:prstGeom prst="rect">
            <a:avLst/>
          </a:prstGeom>
          <a:solidFill>
            <a:srgbClr val="111A14"/>
          </a:solidFill>
          <a:ln w="762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97480" y="1325880"/>
            <a:ext cx="502920" cy="502920"/>
          </a:xfrm>
          <a:prstGeom prst="ellipse">
            <a:avLst/>
          </a:prstGeom>
          <a:solidFill>
            <a:srgbClr val="08504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broke?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tool call at execution? Wrong constraint? Goal never specified? The role-based model has no answer.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286000"/>
            <a:ext cx="6126480" cy="1005840"/>
          </a:xfrm>
          <a:prstGeom prst="rect">
            <a:avLst/>
          </a:prstGeom>
          <a:solidFill>
            <a:srgbClr val="111A14"/>
          </a:solidFill>
          <a:ln w="762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97480" y="2514600"/>
            <a:ext cx="502920" cy="502920"/>
          </a:xfrm>
          <a:prstGeom prst="ellipse">
            <a:avLst/>
          </a:prstGeom>
          <a:solidFill>
            <a:srgbClr val="08504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escalates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 structure, any ambiguity flows back through humans — or gets swallowed silently.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474720"/>
            <a:ext cx="6126480" cy="1005840"/>
          </a:xfrm>
          <a:prstGeom prst="rect">
            <a:avLst/>
          </a:prstGeom>
          <a:solidFill>
            <a:srgbClr val="111A14"/>
          </a:solidFill>
          <a:ln w="762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97480" y="3703320"/>
            <a:ext cx="502920" cy="502920"/>
          </a:xfrm>
          <a:prstGeom prst="ellipse">
            <a:avLst/>
          </a:prstGeom>
          <a:solidFill>
            <a:srgbClr val="085041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failure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final answer. You don't see where in the reasoning hierarchy it went wrong.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 five abstraction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D9E75">
              <a:alpha val="95000"/>
            </a:srgbClr>
          </a:solidFill>
          <a:ln w="635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601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Purpose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Governor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96012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objectives, ethical bounds, success criteria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88A64">
              <a:alpha val="83000"/>
            </a:srgbClr>
          </a:solidFill>
          <a:ln w="6350">
            <a:solidFill>
              <a:srgbClr val="188A64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099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7099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7099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Reasoner + MECC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7099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Invariants, conservation constraints, safety predicates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37653">
              <a:alpha val="71000"/>
            </a:srgbClr>
          </a:solidFill>
          <a:ln w="6350">
            <a:solidFill>
              <a:srgbClr val="137653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597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4597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Function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597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45973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operational patterns, fallback chains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0E6242">
              <a:alpha val="59000"/>
            </a:srgbClr>
          </a:solidFill>
          <a:ln w="6350">
            <a:solidFill>
              <a:srgbClr val="0E6242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095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2095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20954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Router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20954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specs, API contracts, model capabilities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094E32">
              <a:alpha val="47000"/>
            </a:srgbClr>
          </a:solidFill>
          <a:ln w="6350">
            <a:solidFill>
              <a:srgbClr val="094E32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5935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9593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9593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Substrate (LangGraph)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9593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calls, file I/O, LLM invocations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" y="4480560"/>
            <a:ext cx="6400800" cy="-3017520"/>
          </a:xfrm>
          <a:prstGeom prst="line">
            <a:avLst/>
          </a:prstGeom>
          <a:noFill/>
          <a:ln w="15240">
            <a:solidFill>
              <a:srgbClr val="F0F0E8">
                <a:alpha val="50000"/>
              </a:srgbClr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only at L1 — the architecture lives above the runtime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structure from ecological psychology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2651760" cy="2651760"/>
          </a:xfrm>
          <a:prstGeom prst="ellipse">
            <a:avLst/>
          </a:prstGeom>
          <a:solidFill>
            <a:srgbClr val="111C28"/>
          </a:solidFill>
          <a:ln w="10160">
            <a:solidFill>
              <a:srgbClr val="F0F0E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0299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487168"/>
            <a:ext cx="22494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are framed as action possibilities relative to constraints, not generic tools waiting for prompts.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737360"/>
            <a:ext cx="2651760" cy="2651760"/>
          </a:xfrm>
          <a:prstGeom prst="ellipse">
            <a:avLst/>
          </a:prstGeom>
          <a:solidFill>
            <a:srgbClr val="111C28"/>
          </a:solidFill>
          <a:ln w="10160">
            <a:solidFill>
              <a:srgbClr val="F0F0E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20299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levels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487168"/>
            <a:ext cx="22494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distinguishes purpose, invariants, operational patterns, capabilities, and execution substrate.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7064" y="1737360"/>
            <a:ext cx="2651760" cy="2651760"/>
          </a:xfrm>
          <a:prstGeom prst="ellipse">
            <a:avLst/>
          </a:prstGeom>
          <a:solidFill>
            <a:srgbClr val="111C28"/>
          </a:solidFill>
          <a:ln w="10160">
            <a:solidFill>
              <a:srgbClr val="F0F0E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202996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cognition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28232" y="2487168"/>
            <a:ext cx="22494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component holds the whole picture — the system constructs the answer across coordinated layers.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MECC: Means-Ends Consistency Checker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harness's core primitive — a cross-layer admissibility gate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0A1F16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MECC(A, L)  =  permitted(A, L)  ∧  (∀k ≥ L: ¬violates(A, Cₖ))  ∧  (∃g ∈ G: advances(A, g))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 fires before: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82880" cy="1828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external API call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82880" cy="1828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verdict emission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10128"/>
            <a:ext cx="182880" cy="1828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escalation trigger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21608"/>
            <a:ext cx="182880" cy="1828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proposed agent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2057400"/>
            <a:ext cx="4846320" cy="2606040"/>
          </a:xfrm>
          <a:prstGeom prst="rect">
            <a:avLst/>
          </a:prstGeom>
          <a:solidFill>
            <a:srgbClr val="0C2218"/>
          </a:solidFill>
          <a:ln w="1016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evaluator vs. MECC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6060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evaluator checks rules at one layer.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 enforces the full hierarchy at runtime — an action is only admissible if it passes constraints at all layers at or above its origin layer, and if it advances at least one system goal.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CogTrace more than a workflow runner.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proof cases — one harness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are the demo vehicle. The architecture works across any domain.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474720"/>
          </a:xfrm>
          <a:prstGeom prst="rect">
            <a:avLst/>
          </a:prstGeom>
          <a:solidFill>
            <a:srgbClr val="0D1A13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 Integrity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8013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103120"/>
            <a:ext cx="2523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resolution, title match, year, venue. Three failure modes: VALID / FABRICATED / MISMATCHED. Motivated by the May 2026 Lancet audit of 2.5M biomedical papers.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4343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Layers: L2 – L5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3474720"/>
          </a:xfrm>
          <a:prstGeom prst="rect">
            <a:avLst/>
          </a:prstGeom>
          <a:solidFill>
            <a:srgbClr val="0D1A13"/>
          </a:solidFill>
          <a:ln w="12700">
            <a:solidFill>
              <a:srgbClr val="188A6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743200" cy="109728"/>
          </a:xfrm>
          <a:prstGeom prst="rect">
            <a:avLst/>
          </a:prstGeom>
          <a:solidFill>
            <a:srgbClr val="188A64"/>
          </a:solidFill>
          <a:ln w="12700">
            <a:solidFill>
              <a:srgbClr val="188A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Escalation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8013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88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2103120"/>
            <a:ext cx="2523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sensor agents (seismic, tsunami, impact) reconcile USGS earthquake events. Cross-sensor MECC resolves contradictions. LLM assessor fires only on genuine ambiguity.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4343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8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Layers: L2 – L5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743200" cy="3474720"/>
          </a:xfrm>
          <a:prstGeom prst="rect">
            <a:avLst/>
          </a:prstGeom>
          <a:solidFill>
            <a:srgbClr val="0D1A13"/>
          </a:solidFill>
          <a:ln w="12700">
            <a:solidFill>
              <a:srgbClr val="1376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34440"/>
            <a:ext cx="2743200" cy="109728"/>
          </a:xfrm>
          <a:prstGeom prst="rect">
            <a:avLst/>
          </a:prstGeom>
          <a:solidFill>
            <a:srgbClr val="137653"/>
          </a:solidFill>
          <a:ln w="12700">
            <a:solidFill>
              <a:srgbClr val="137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417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 Action 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18013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7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admissibility 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81928" y="2103120"/>
            <a:ext cx="2523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L4 constraints block irreversible operations (DROP TABLE, DELETE). Borderline cases escalate to L5 for human approval. Architecture first — no execution engine needed.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43434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7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Layers: L4 – L5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cognition — not a single orchestrator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566928"/>
          </a:xfrm>
          <a:prstGeom prst="rect">
            <a:avLst/>
          </a:prstGeom>
          <a:solidFill>
            <a:srgbClr val="085041">
              <a:alpha val="60000"/>
            </a:srgbClr>
          </a:solidFill>
          <a:ln w="762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024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raw 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280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know: know if citations are real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572768"/>
            <a:ext cx="0" cy="182880"/>
          </a:xfrm>
          <a:prstGeom prst="line">
            <a:avLst/>
          </a:prstGeom>
          <a:noFill/>
          <a:ln w="7620">
            <a:solidFill>
              <a:srgbClr val="7A9E8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200" y="1755648"/>
            <a:ext cx="1828800" cy="566928"/>
          </a:xfrm>
          <a:prstGeom prst="rect">
            <a:avLst/>
          </a:prstGeom>
          <a:solidFill>
            <a:srgbClr val="085041">
              <a:alpha val="60000"/>
            </a:srgbClr>
          </a:solidFill>
          <a:ln w="762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773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API responses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know: know the claims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322576"/>
            <a:ext cx="0" cy="182880"/>
          </a:xfrm>
          <a:prstGeom prst="line">
            <a:avLst/>
          </a:prstGeom>
          <a:noFill/>
          <a:ln w="7620">
            <a:solidFill>
              <a:srgbClr val="7A9E8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7200" y="2505456"/>
            <a:ext cx="1828800" cy="566928"/>
          </a:xfrm>
          <a:prstGeom prst="rect">
            <a:avLst/>
          </a:prstGeom>
          <a:solidFill>
            <a:srgbClr val="085041">
              <a:alpha val="60000"/>
            </a:srgbClr>
          </a:solidFill>
          <a:ln w="762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523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metadata matches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779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know: know semantic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072384"/>
            <a:ext cx="0" cy="182880"/>
          </a:xfrm>
          <a:prstGeom prst="line">
            <a:avLst/>
          </a:prstGeom>
          <a:noFill/>
          <a:ln w="7620">
            <a:solidFill>
              <a:srgbClr val="7A9E8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" y="3255264"/>
            <a:ext cx="1828800" cy="566928"/>
          </a:xfrm>
          <a:prstGeom prst="rect">
            <a:avLst/>
          </a:prstGeom>
          <a:solidFill>
            <a:srgbClr val="085041">
              <a:alpha val="60000"/>
            </a:srgbClr>
          </a:solidFill>
          <a:ln w="762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552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claim-source pairs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529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know: know API availability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822192"/>
            <a:ext cx="0" cy="182880"/>
          </a:xfrm>
          <a:prstGeom prst="line">
            <a:avLst/>
          </a:prstGeom>
          <a:noFill/>
          <a:ln w="7620">
            <a:solidFill>
              <a:srgbClr val="7A9E8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4005072"/>
            <a:ext cx="1828800" cy="566928"/>
          </a:xfrm>
          <a:prstGeom prst="rect">
            <a:avLst/>
          </a:prstGeom>
          <a:solidFill>
            <a:srgbClr val="085041">
              <a:alpha val="60000"/>
            </a:srgbClr>
          </a:solidFill>
          <a:ln w="762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all constraints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279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know: execute any 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1005840"/>
            <a:ext cx="2834640" cy="3566160"/>
          </a:xfrm>
          <a:prstGeom prst="rect">
            <a:avLst/>
          </a:prstGeom>
          <a:solidFill>
            <a:srgbClr val="0C2218"/>
          </a:solidFill>
          <a:ln w="1016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893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system together produces the answer.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1828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makes distributed cognition visible rather than hiding it inside a single orchestrator.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agent holds the full picture — the MECC sees constraints, not actions; the assessor sees claim pairs, not APIs.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CogTrace is not just another agent app.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W&amp;B Weave — every decision traced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events emitted: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754880" cy="475488"/>
          </a:xfrm>
          <a:prstGeom prst="rect">
            <a:avLst/>
          </a:prstGeom>
          <a:solidFill>
            <a:srgbClr val="0A1A12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layer_transition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target layer, trigger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754880" cy="475488"/>
          </a:xfrm>
          <a:prstGeom prst="rect">
            <a:avLst/>
          </a:prstGeom>
          <a:solidFill>
            <a:srgbClr val="0A1A12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mecc_evaluation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layer, constraints checked, pass/fail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754880" cy="475488"/>
          </a:xfrm>
          <a:prstGeom prst="rect">
            <a:avLst/>
          </a:prstGeom>
          <a:solidFill>
            <a:srgbClr val="0A1A12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426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name, layer, confidence, proposed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4754880" cy="475488"/>
          </a:xfrm>
          <a:prstGeom prst="rect">
            <a:avLst/>
          </a:prstGeom>
          <a:solidFill>
            <a:srgbClr val="0A1A12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80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constraint_violation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2095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ID, severity, escalation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4754880" cy="475488"/>
          </a:xfrm>
          <a:prstGeom prst="rect">
            <a:avLst/>
          </a:prstGeom>
          <a:solidFill>
            <a:srgbClr val="0A1A12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scenario_complete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776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latency, cost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914400"/>
            <a:ext cx="3200400" cy="3840480"/>
          </a:xfrm>
          <a:prstGeom prst="rect">
            <a:avLst/>
          </a:prstGeom>
          <a:solidFill>
            <a:srgbClr val="0C2218"/>
          </a:solidFill>
          <a:ln w="1016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see in Weave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23560" y="150876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46304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run = root span with full child tree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207568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202996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MECC span carries ah_layer, ah_layer_name, mecc_action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2642616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259689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ah_layer_name to see all checks at one abstraction level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3209544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316382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tab: verdict_correct, constraint_fired, pipeline_health scorers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3776472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37307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(👍/👎) logged per run to classic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713232"/>
          </a:xfrm>
          <a:prstGeom prst="rect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713232"/>
          </a:xfrm>
          <a:prstGeom prst="rect">
            <a:avLst/>
          </a:prstGeom>
          <a:solidFill>
            <a:srgbClr val="1D9E75">
              <a:alpha val="9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713232"/>
          </a:xfrm>
          <a:prstGeom prst="rect">
            <a:avLst/>
          </a:prstGeom>
          <a:solidFill>
            <a:srgbClr val="1D9E75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713232"/>
          </a:xfrm>
          <a:prstGeom prst="rect">
            <a:avLst/>
          </a:prstGeom>
          <a:solidFill>
            <a:srgbClr val="1D9E75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840480"/>
            <a:ext cx="9144000" cy="713232"/>
          </a:xfrm>
          <a:prstGeom prst="rect">
            <a:avLst/>
          </a:prstGeom>
          <a:solidFill>
            <a:srgbClr val="1D9E75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AHA moment isn't the output.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seeing which layer of reasoning produced it.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first. </a:t>
            </a:r>
            <a:pPr algn="ctr" indent="0" marL="0">
              <a:buNone/>
            </a:pPr>
            <a:r>
              <a:rPr lang="en-US" sz="16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second.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citation integrity, sensor escalation, destructive action gate.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any domain, any harness, same architecture.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</a:t>
            </a:r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pPr algn="ctr" indent="0" marL="0">
              <a:buNone/>
            </a:pPr>
            <a:r>
              <a:rPr lang="en-US" sz="1800" dirty="0">
                <a:solidFill>
                  <a:srgbClr val="7A9E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AHA for Agents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CogTrace — AHA for Agents</dc:title>
  <dc:subject>PptxGenJS Presentation</dc:subject>
  <dc:creator>PptxGenJS</dc:creator>
  <cp:lastModifiedBy>PptxGenJS</cp:lastModifiedBy>
  <cp:revision>1</cp:revision>
  <dcterms:created xsi:type="dcterms:W3CDTF">2026-05-31T23:20:01Z</dcterms:created>
  <dcterms:modified xsi:type="dcterms:W3CDTF">2026-05-31T23:20:01Z</dcterms:modified>
</cp:coreProperties>
</file>