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85192"/>
            <a:ext cx="80832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🧠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30352" y="2490192"/>
            <a:ext cx="8083296" cy="118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60"/>
              </a:lnSpc>
              <a:buNone/>
            </a:pPr>
            <a:r>
              <a:rPr lang="en-US" sz="6240" b="1" dirty="0">
                <a:solidFill>
                  <a:srgbClr val="67D4C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AGAH</a:t>
            </a:r>
            <a:endParaRPr lang="en-US" sz="6240" dirty="0"/>
          </a:p>
        </p:txBody>
      </p:sp>
      <p:sp>
        <p:nvSpPr>
          <p:cNvPr id="4" name="Text 2"/>
          <p:cNvSpPr/>
          <p:nvPr/>
        </p:nvSpPr>
        <p:spPr>
          <a:xfrm>
            <a:off x="530352" y="3831282"/>
            <a:ext cx="8083296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Abstraction-Grounded Agentic Harness for human-agent-agent teaming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530352" y="4380012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Ecological psychology • distributed cognition • abstraction hierarchy • MECC</a:t>
            </a:r>
            <a:endParaRPr lang="en-US" sz="93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5168"/>
            <a:ext cx="3848100" cy="3233738"/>
          </a:xfrm>
          <a:prstGeom prst="roundRect">
            <a:avLst>
              <a:gd name="adj" fmla="val 67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23925" y="1899493"/>
            <a:ext cx="3219450" cy="319088"/>
          </a:xfrm>
          <a:prstGeom prst="roundRect">
            <a:avLst>
              <a:gd name="adj" fmla="val 2862801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F0C36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pattern</a:t>
            </a:r>
            <a:endParaRPr lang="en-US" sz="936" dirty="0"/>
          </a:p>
        </p:txBody>
      </p:sp>
      <p:sp>
        <p:nvSpPr>
          <p:cNvPr id="4" name="Text 2"/>
          <p:cNvSpPr/>
          <p:nvPr/>
        </p:nvSpPr>
        <p:spPr>
          <a:xfrm>
            <a:off x="4686300" y="1585168"/>
            <a:ext cx="3848100" cy="3233738"/>
          </a:xfrm>
          <a:prstGeom prst="roundRect">
            <a:avLst>
              <a:gd name="adj" fmla="val 67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00625" y="1899493"/>
            <a:ext cx="3219450" cy="319088"/>
          </a:xfrm>
          <a:prstGeom prst="roundRect">
            <a:avLst>
              <a:gd name="adj" fmla="val 2862801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67D4C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AGAH critique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609600" y="324743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09600" y="503039"/>
            <a:ext cx="8083296" cy="77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120"/>
              </a:lnSpc>
              <a:buNone/>
            </a:pPr>
            <a:r>
              <a:rPr lang="en-US" sz="408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Most agent systems still think in job titles</a:t>
            </a:r>
            <a:endParaRPr lang="en-US" sz="4080" dirty="0"/>
          </a:p>
        </p:txBody>
      </p:sp>
      <p:sp>
        <p:nvSpPr>
          <p:cNvPr id="8" name="Text 6"/>
          <p:cNvSpPr/>
          <p:nvPr/>
        </p:nvSpPr>
        <p:spPr>
          <a:xfrm>
            <a:off x="923925" y="2370981"/>
            <a:ext cx="3219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Researcher → reviewer → critic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3925" y="3132981"/>
            <a:ext cx="32194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Useful for prototyping, but it imports human staffing metaphors into systems whose cognition, memory, and coordination needs are not naturally role-shaped.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00625" y="2370981"/>
            <a:ext cx="32194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Knowledge is not organized like a corporate org chart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00625" y="3437781"/>
            <a:ext cx="32194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real structure is in goals, constraints, patterns, capabilities, and substrate. That is where the harness should be built.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6954"/>
            <a:ext cx="2489150" cy="2266950"/>
          </a:xfrm>
          <a:prstGeom prst="roundRect">
            <a:avLst>
              <a:gd name="adj" fmla="val 968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056954"/>
            <a:ext cx="2489150" cy="2266950"/>
          </a:xfrm>
          <a:prstGeom prst="roundRect">
            <a:avLst>
              <a:gd name="adj" fmla="val 968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056954"/>
            <a:ext cx="2489299" cy="2266950"/>
          </a:xfrm>
          <a:prstGeom prst="roundRect">
            <a:avLst>
              <a:gd name="adj" fmla="val 968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819596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idea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609600" y="997893"/>
            <a:ext cx="8083296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40"/>
              </a:lnSpc>
              <a:buNone/>
            </a:pPr>
            <a:r>
              <a:rPr lang="en-US" sz="396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Harness structure from ecological psychology</a:t>
            </a:r>
            <a:endParaRPr lang="en-US" sz="3960" dirty="0"/>
          </a:p>
        </p:txBody>
      </p:sp>
      <p:sp>
        <p:nvSpPr>
          <p:cNvPr id="7" name="Text 5"/>
          <p:cNvSpPr/>
          <p:nvPr/>
        </p:nvSpPr>
        <p:spPr>
          <a:xfrm>
            <a:off x="885825" y="2333179"/>
            <a:ext cx="1975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7D4C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Affordances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5825" y="2676079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Capabilities are framed as action possibilities relative to constraints, not generic tools waiting for prompts.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03575" y="2333179"/>
            <a:ext cx="1975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FB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Abstraction levels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03575" y="2676079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harness distinguishes purpose, invariants, operational patterns, capabilities, and execution substrate.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1326" y="2333179"/>
            <a:ext cx="1975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C36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Distributed cognition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1326" y="2676079"/>
            <a:ext cx="19368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single component must hold the whole picture; the system constructs the answer across coordinated layers.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3595"/>
            <a:ext cx="1462980" cy="3131046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4980" y="1613595"/>
            <a:ext cx="1462980" cy="3131046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40361" y="1613595"/>
            <a:ext cx="1463129" cy="3131046"/>
          </a:xfrm>
          <a:prstGeom prst="roundRect">
            <a:avLst>
              <a:gd name="adj" fmla="val 1499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5890" y="1613595"/>
            <a:ext cx="1462980" cy="3131046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71271" y="1613595"/>
            <a:ext cx="1463129" cy="3131046"/>
          </a:xfrm>
          <a:prstGeom prst="roundRect">
            <a:avLst>
              <a:gd name="adj" fmla="val 1499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99008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Five-layer architecture</a:t>
            </a:r>
            <a:endParaRPr lang="en-US" sz="936" dirty="0"/>
          </a:p>
        </p:txBody>
      </p:sp>
      <p:sp>
        <p:nvSpPr>
          <p:cNvPr id="8" name="Text 6"/>
          <p:cNvSpPr/>
          <p:nvPr/>
        </p:nvSpPr>
        <p:spPr>
          <a:xfrm>
            <a:off x="609600" y="577304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Rasmussen mapped directly onto the harness</a:t>
            </a:r>
            <a:endParaRPr lang="en-US" sz="3840" dirty="0"/>
          </a:p>
        </p:txBody>
      </p:sp>
      <p:sp>
        <p:nvSpPr>
          <p:cNvPr id="9" name="Text 7"/>
          <p:cNvSpPr/>
          <p:nvPr/>
        </p:nvSpPr>
        <p:spPr>
          <a:xfrm>
            <a:off x="809625" y="1813620"/>
            <a:ext cx="108418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L5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809625" y="2068116"/>
            <a:ext cx="106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Functional Purpose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625" y="2715816"/>
            <a:ext cx="10629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 Governor: mission, success criteria, ethical and admissibility boundaries.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5005" y="1813620"/>
            <a:ext cx="108418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L4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2425005" y="2068116"/>
            <a:ext cx="106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Abstract Function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5005" y="2715816"/>
            <a:ext cx="10629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Constraint Reasoner and MECC: invariants, blocked actions, escalation logic.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0386" y="1813620"/>
            <a:ext cx="108434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L3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4040386" y="2068116"/>
            <a:ext cx="10630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Generalized Function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40386" y="2715816"/>
            <a:ext cx="10630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Orchestrator: stable patterns, retries, fallback chains.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55915" y="1813620"/>
            <a:ext cx="108418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L2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5655915" y="2068116"/>
            <a:ext cx="106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Function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55915" y="2715816"/>
            <a:ext cx="10629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Capability Router: tools, APIs, models, contracts, affordances.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71296" y="1813620"/>
            <a:ext cx="108434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L1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7271296" y="2068116"/>
            <a:ext cx="10630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Form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71296" y="2715816"/>
            <a:ext cx="10630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Execution substrate only: LangGraph, HTTP, files, runtime calls.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9320"/>
            <a:ext cx="3848100" cy="3690937"/>
          </a:xfrm>
          <a:prstGeom prst="roundRect">
            <a:avLst>
              <a:gd name="adj" fmla="val 5945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23925" y="2013645"/>
            <a:ext cx="3219450" cy="319088"/>
          </a:xfrm>
          <a:prstGeom prst="roundRect">
            <a:avLst>
              <a:gd name="adj" fmla="val 2862801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67D4C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it does</a:t>
            </a:r>
            <a:endParaRPr lang="en-US" sz="936" dirty="0"/>
          </a:p>
        </p:txBody>
      </p:sp>
      <p:sp>
        <p:nvSpPr>
          <p:cNvPr id="4" name="Text 2"/>
          <p:cNvSpPr/>
          <p:nvPr/>
        </p:nvSpPr>
        <p:spPr>
          <a:xfrm>
            <a:off x="4686300" y="1699320"/>
            <a:ext cx="3848100" cy="3690937"/>
          </a:xfrm>
          <a:prstGeom prst="roundRect">
            <a:avLst>
              <a:gd name="adj" fmla="val 5945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00625" y="2013645"/>
            <a:ext cx="3219450" cy="319088"/>
          </a:xfrm>
          <a:prstGeom prst="roundRect">
            <a:avLst>
              <a:gd name="adj" fmla="val 2862801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F0C36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matters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609600" y="-246757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primitive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09600" y="-68461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MECC is the architecture’s enforcement mechanism</a:t>
            </a:r>
            <a:endParaRPr lang="en-US" sz="3840" dirty="0"/>
          </a:p>
        </p:txBody>
      </p:sp>
      <p:sp>
        <p:nvSpPr>
          <p:cNvPr id="8" name="Text 6"/>
          <p:cNvSpPr/>
          <p:nvPr/>
        </p:nvSpPr>
        <p:spPr>
          <a:xfrm>
            <a:off x="923925" y="2485132"/>
            <a:ext cx="321945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Checks if an action is permitted at its current layer.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Checks whether higher-layer constraints would be violated.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Checks whether the action advances at least one system goal.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Assigns escalation targets before execution when needed.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00625" y="2485132"/>
            <a:ext cx="3219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policy engine checks one rule. MECC checks admissibility across the hierarchy.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00625" y="3437632"/>
            <a:ext cx="32194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That turns structure into runtime discipline and makes blocked actions, conflicts, and exceptions visible instead of implicit.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30598"/>
            <a:ext cx="1838325" cy="3228529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8425" y="1930598"/>
            <a:ext cx="1838325" cy="3228529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930598"/>
            <a:ext cx="1838325" cy="3228529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6075" y="1930598"/>
            <a:ext cx="1838325" cy="3228529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-15478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 add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09600" y="162818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this is better for human-agent-agent teaming</a:t>
            </a:r>
            <a:endParaRPr lang="en-US" sz="3840" dirty="0"/>
          </a:p>
        </p:txBody>
      </p:sp>
      <p:sp>
        <p:nvSpPr>
          <p:cNvPr id="8" name="Text 6"/>
          <p:cNvSpPr/>
          <p:nvPr/>
        </p:nvSpPr>
        <p:spPr>
          <a:xfrm>
            <a:off x="847725" y="2168723"/>
            <a:ext cx="1389317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72"/>
              </a:lnSpc>
              <a:buNone/>
            </a:pPr>
            <a:r>
              <a:rPr lang="en-US" sz="5760" b="1" dirty="0">
                <a:solidFill>
                  <a:srgbClr val="67D4C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</a:t>
            </a:r>
            <a:endParaRPr lang="en-US" sz="5760" dirty="0"/>
          </a:p>
        </p:txBody>
      </p:sp>
      <p:sp>
        <p:nvSpPr>
          <p:cNvPr id="9" name="Text 7"/>
          <p:cNvSpPr/>
          <p:nvPr/>
        </p:nvSpPr>
        <p:spPr>
          <a:xfrm>
            <a:off x="847725" y="3016002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7725" y="3320802"/>
            <a:ext cx="1362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Smaller, narrower agents mean lower context load and less unnecessary model spend.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76550" y="2168723"/>
            <a:ext cx="1389317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72"/>
              </a:lnSpc>
              <a:buNone/>
            </a:pPr>
            <a:r>
              <a:rPr lang="en-US" sz="5760" b="1" dirty="0">
                <a:solidFill>
                  <a:srgbClr val="8FB2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</a:t>
            </a:r>
            <a:endParaRPr lang="en-US" sz="5760" dirty="0"/>
          </a:p>
        </p:txBody>
      </p:sp>
      <p:sp>
        <p:nvSpPr>
          <p:cNvPr id="12" name="Text 10"/>
          <p:cNvSpPr/>
          <p:nvPr/>
        </p:nvSpPr>
        <p:spPr>
          <a:xfrm>
            <a:off x="2876550" y="3016002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76550" y="3320802"/>
            <a:ext cx="1362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Layer-bounded state prevents every component from carrying the full world model.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5375" y="2168723"/>
            <a:ext cx="1389317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72"/>
              </a:lnSpc>
              <a:buNone/>
            </a:pPr>
            <a:r>
              <a:rPr lang="en-US" sz="5760" b="1" dirty="0">
                <a:solidFill>
                  <a:srgbClr val="F0C36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!</a:t>
            </a:r>
            <a:endParaRPr lang="en-US" sz="5760" dirty="0"/>
          </a:p>
        </p:txBody>
      </p:sp>
      <p:sp>
        <p:nvSpPr>
          <p:cNvPr id="15" name="Text 13"/>
          <p:cNvSpPr/>
          <p:nvPr/>
        </p:nvSpPr>
        <p:spPr>
          <a:xfrm>
            <a:off x="4905375" y="3016002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 finding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5375" y="3320802"/>
            <a:ext cx="13620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Violations surface as explicit blocked actions, conflicts, and escalations instead of vague agent failure.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2168723"/>
            <a:ext cx="1389317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72"/>
              </a:lnSpc>
              <a:buNone/>
            </a:pPr>
            <a:r>
              <a:rPr lang="en-US" sz="5760" b="1" dirty="0">
                <a:solidFill>
                  <a:srgbClr val="67D4C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</a:t>
            </a:r>
            <a:endParaRPr lang="en-US" sz="5760" dirty="0"/>
          </a:p>
        </p:txBody>
      </p:sp>
      <p:sp>
        <p:nvSpPr>
          <p:cNvPr id="18" name="Text 16"/>
          <p:cNvSpPr/>
          <p:nvPr/>
        </p:nvSpPr>
        <p:spPr>
          <a:xfrm>
            <a:off x="6934200" y="3016002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Knowledge 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3549402"/>
            <a:ext cx="1362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Represents what the environment actually requires, not a list of inherited workplace roles.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68363"/>
            <a:ext cx="3848100" cy="3752850"/>
          </a:xfrm>
          <a:prstGeom prst="roundRect">
            <a:avLst>
              <a:gd name="adj" fmla="val 584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668363"/>
            <a:ext cx="3848100" cy="3752850"/>
          </a:xfrm>
          <a:prstGeom prst="roundRect">
            <a:avLst>
              <a:gd name="adj" fmla="val 584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-277713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citation case</a:t>
            </a:r>
            <a:endParaRPr lang="en-US" sz="936" dirty="0"/>
          </a:p>
        </p:txBody>
      </p:sp>
      <p:sp>
        <p:nvSpPr>
          <p:cNvPr id="5" name="Text 3"/>
          <p:cNvSpPr/>
          <p:nvPr/>
        </p:nvSpPr>
        <p:spPr>
          <a:xfrm>
            <a:off x="609600" y="-99417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Citation integrity is the proof case, not the endpoint</a:t>
            </a:r>
            <a:endParaRPr lang="en-US" sz="3840" dirty="0"/>
          </a:p>
        </p:txBody>
      </p:sp>
      <p:sp>
        <p:nvSpPr>
          <p:cNvPr id="6" name="Text 4"/>
          <p:cNvSpPr/>
          <p:nvPr/>
        </p:nvSpPr>
        <p:spPr>
          <a:xfrm>
            <a:off x="923925" y="1982688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works as a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925" y="2401788"/>
            <a:ext cx="32194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Fast, legible, and easy for judges to verify.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Shows fabricated and mismatched references as harness failures, not just model misses.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a visible “FABRICATED” moment when L4 blocks trust.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00625" y="1982688"/>
            <a:ext cx="3219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matters architecturally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00625" y="2668488"/>
            <a:ext cx="321945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Demonstrates representational separation across parser, retriever, verifier, assessor, and MECC.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Shows LangGraph staying at L1 instead of swallowing the architecture.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Makes distributed cognition observable in a short live run.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57908"/>
            <a:ext cx="2489150" cy="2038350"/>
          </a:xfrm>
          <a:prstGeom prst="roundRect">
            <a:avLst>
              <a:gd name="adj" fmla="val 1076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357908"/>
            <a:ext cx="2489150" cy="2038350"/>
          </a:xfrm>
          <a:prstGeom prst="roundRect">
            <a:avLst>
              <a:gd name="adj" fmla="val 1076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357908"/>
            <a:ext cx="2489299" cy="2038350"/>
          </a:xfrm>
          <a:prstGeom prst="roundRect">
            <a:avLst>
              <a:gd name="adj" fmla="val 1076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624858"/>
            <a:ext cx="7924800" cy="1352550"/>
          </a:xfrm>
          <a:prstGeom prst="roundRect">
            <a:avLst>
              <a:gd name="adj" fmla="val 1622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66241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anatomy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09600" y="344537"/>
            <a:ext cx="8083296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80"/>
              </a:lnSpc>
              <a:buNone/>
            </a:pPr>
            <a:r>
              <a:rPr lang="en-US" sz="372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Code structure keeps the theory visible</a:t>
            </a:r>
            <a:endParaRPr lang="en-US" sz="3720" dirty="0"/>
          </a:p>
        </p:txBody>
      </p:sp>
      <p:sp>
        <p:nvSpPr>
          <p:cNvPr id="8" name="Text 6"/>
          <p:cNvSpPr/>
          <p:nvPr/>
        </p:nvSpPr>
        <p:spPr>
          <a:xfrm>
            <a:off x="885825" y="1634133"/>
            <a:ext cx="1975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5825" y="1977033"/>
            <a:ext cx="193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Typed state, MECC, policies, traces, consensus, routing, orchestration.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03575" y="1634133"/>
            <a:ext cx="1975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03575" y="1977033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Citation integrity today; destructive action and sensor escalation stubbed to show portability direction.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1326" y="1634133"/>
            <a:ext cx="1975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UI + observability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21326" y="1977033"/>
            <a:ext cx="19368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Streamlit makes the hierarchy legible; Weave makes the hierarchy inspectable.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5825" y="3901083"/>
            <a:ext cx="7519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 rule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5825" y="4243983"/>
            <a:ext cx="737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Deterministic by default, sparse LLM only for ambiguity, and typed failures instead of hidden exceptions.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3138"/>
            <a:ext cx="3848100" cy="3543300"/>
          </a:xfrm>
          <a:prstGeom prst="roundRect">
            <a:avLst>
              <a:gd name="adj" fmla="val 619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773138"/>
            <a:ext cx="3848100" cy="3543300"/>
          </a:xfrm>
          <a:prstGeom prst="roundRect">
            <a:avLst>
              <a:gd name="adj" fmla="val 619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00625" y="3763863"/>
            <a:ext cx="321945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00625" y="4316313"/>
            <a:ext cx="321945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00625" y="4868763"/>
            <a:ext cx="321945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172938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Observability</a:t>
            </a:r>
            <a:endParaRPr lang="en-US" sz="936" dirty="0"/>
          </a:p>
        </p:txBody>
      </p:sp>
      <p:sp>
        <p:nvSpPr>
          <p:cNvPr id="8" name="Text 6"/>
          <p:cNvSpPr/>
          <p:nvPr/>
        </p:nvSpPr>
        <p:spPr>
          <a:xfrm>
            <a:off x="609600" y="5358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Weave turns the architecture diagram into runtime evidence</a:t>
            </a:r>
            <a:endParaRPr lang="en-US" sz="3840" dirty="0"/>
          </a:p>
        </p:txBody>
      </p:sp>
      <p:sp>
        <p:nvSpPr>
          <p:cNvPr id="9" name="Text 7"/>
          <p:cNvSpPr/>
          <p:nvPr/>
        </p:nvSpPr>
        <p:spPr>
          <a:xfrm>
            <a:off x="923925" y="2087463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Events traced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925" y="2506563"/>
            <a:ext cx="32194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 transitions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MECC evaluations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Constraint violations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Escalations and final verdicts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00625" y="2087463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judges care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0625" y="2506563"/>
            <a:ext cx="3219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system shows how it reasons structurally, not just what answer it prints.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00625" y="3497163"/>
            <a:ext cx="145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legibility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23609" y="3497163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92%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00625" y="4049613"/>
            <a:ext cx="935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 visibility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23609" y="4049613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96%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00625" y="4602063"/>
            <a:ext cx="13507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Black-box reduction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23609" y="4602063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89%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69393"/>
            <a:ext cx="3848100" cy="3219450"/>
          </a:xfrm>
          <a:prstGeom prst="roundRect">
            <a:avLst>
              <a:gd name="adj" fmla="val 681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69393"/>
            <a:ext cx="3848100" cy="3219450"/>
          </a:xfrm>
          <a:prstGeom prst="roundRect">
            <a:avLst>
              <a:gd name="adj" fmla="val 681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4806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Roadmap</a:t>
            </a:r>
            <a:endParaRPr lang="en-US" sz="936" dirty="0"/>
          </a:p>
        </p:txBody>
      </p:sp>
      <p:sp>
        <p:nvSpPr>
          <p:cNvPr id="5" name="Text 3"/>
          <p:cNvSpPr/>
          <p:nvPr/>
        </p:nvSpPr>
        <p:spPr>
          <a:xfrm>
            <a:off x="609600" y="533102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5F7F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Future extensions</a:t>
            </a:r>
            <a:endParaRPr lang="en-US" sz="3840" dirty="0"/>
          </a:p>
        </p:txBody>
      </p:sp>
      <p:sp>
        <p:nvSpPr>
          <p:cNvPr id="6" name="Text 4"/>
          <p:cNvSpPr/>
          <p:nvPr/>
        </p:nvSpPr>
        <p:spPr>
          <a:xfrm>
            <a:off x="923925" y="1883718"/>
            <a:ext cx="321945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C005 claim-support verification.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Layer-specific memory models.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Multi-human escalation protocols.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Portable scenario packs beyond citation integrity.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00625" y="1883718"/>
            <a:ext cx="321945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and memory accounting by layer.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Benchmarks versus role-based harnesses.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Richer ecological affordance models for tool routing.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Cross-run comparative Weave analytics.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-118467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F5F7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🔴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1605558"/>
            <a:ext cx="7924800" cy="2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80"/>
              </a:lnSpc>
              <a:buNone/>
            </a:pPr>
            <a:r>
              <a:rPr lang="en-US" sz="5520" dirty="0">
                <a:solidFill>
                  <a:srgbClr val="67D4C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citation demo proves the difference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609600" y="3860899"/>
            <a:ext cx="7924800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D5DC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But the real product is the harness: a theory-grounded structure for distributed cognition, error visibility, memory discipline, and human-agent-agent coordination.</a:t>
            </a:r>
            <a:endParaRPr lang="en-US" sz="1740" dirty="0"/>
          </a:p>
        </p:txBody>
      </p:sp>
      <p:sp>
        <p:nvSpPr>
          <p:cNvPr id="5" name="Text 3"/>
          <p:cNvSpPr/>
          <p:nvPr/>
        </p:nvSpPr>
        <p:spPr>
          <a:xfrm>
            <a:off x="530352" y="5083820"/>
            <a:ext cx="80832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7A5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first. Scenario second.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2026-05-31T03:52:18Z</dcterms:created>
  <dcterms:modified xsi:type="dcterms:W3CDTF">2026-05-31T03:52:18Z</dcterms:modified>
</cp:coreProperties>
</file>